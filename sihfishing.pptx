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9D1EA-4C42-4CE7-84C9-F0FE191029DC}" v="4" dt="2026-09-02T02:31:55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ha Krishna N" userId="de4fe408e2401e0c" providerId="LiveId" clId="{44B25588-CA2B-4683-BB5B-95BD4D80AD71}"/>
    <pc:docChg chg="undo custSel modSld">
      <pc:chgData name="Anantha Krishna N" userId="de4fe408e2401e0c" providerId="LiveId" clId="{44B25588-CA2B-4683-BB5B-95BD4D80AD71}" dt="2026-09-02T05:14:04.213" v="63" actId="20577"/>
      <pc:docMkLst>
        <pc:docMk/>
      </pc:docMkLst>
      <pc:sldChg chg="modSp mod">
        <pc:chgData name="Anantha Krishna N" userId="de4fe408e2401e0c" providerId="LiveId" clId="{44B25588-CA2B-4683-BB5B-95BD4D80AD71}" dt="2026-09-01T17:24:09.032" v="6" actId="2710"/>
        <pc:sldMkLst>
          <pc:docMk/>
          <pc:sldMk cId="2972518836" sldId="256"/>
        </pc:sldMkLst>
        <pc:spChg chg="mod">
          <ac:chgData name="Anantha Krishna N" userId="de4fe408e2401e0c" providerId="LiveId" clId="{44B25588-CA2B-4683-BB5B-95BD4D80AD71}" dt="2026-09-01T17:24:09.032" v="6" actId="2710"/>
          <ac:spMkLst>
            <pc:docMk/>
            <pc:sldMk cId="2972518836" sldId="256"/>
            <ac:spMk id="19" creationId="{1C506889-07F5-CC14-BADA-508E3DD78669}"/>
          </ac:spMkLst>
        </pc:spChg>
      </pc:sldChg>
      <pc:sldChg chg="addSp delSp modSp mod modAnim">
        <pc:chgData name="Anantha Krishna N" userId="de4fe408e2401e0c" providerId="LiveId" clId="{44B25588-CA2B-4683-BB5B-95BD4D80AD71}" dt="2026-09-02T05:14:04.213" v="63" actId="20577"/>
        <pc:sldMkLst>
          <pc:docMk/>
          <pc:sldMk cId="2650886372" sldId="258"/>
        </pc:sldMkLst>
        <pc:spChg chg="mod">
          <ac:chgData name="Anantha Krishna N" userId="de4fe408e2401e0c" providerId="LiveId" clId="{44B25588-CA2B-4683-BB5B-95BD4D80AD71}" dt="2026-09-02T05:14:04.213" v="63" actId="20577"/>
          <ac:spMkLst>
            <pc:docMk/>
            <pc:sldMk cId="2650886372" sldId="258"/>
            <ac:spMk id="4" creationId="{44A5150B-6054-DF91-87E8-7097D3237ED8}"/>
          </ac:spMkLst>
        </pc:spChg>
        <pc:spChg chg="mod">
          <ac:chgData name="Anantha Krishna N" userId="de4fe408e2401e0c" providerId="LiveId" clId="{44B25588-CA2B-4683-BB5B-95BD4D80AD71}" dt="2026-09-02T02:32:14.677" v="42" actId="1076"/>
          <ac:spMkLst>
            <pc:docMk/>
            <pc:sldMk cId="2650886372" sldId="258"/>
            <ac:spMk id="9" creationId="{61B331D1-080F-36AD-0768-330D8797FABE}"/>
          </ac:spMkLst>
        </pc:spChg>
        <pc:spChg chg="mod">
          <ac:chgData name="Anantha Krishna N" userId="de4fe408e2401e0c" providerId="LiveId" clId="{44B25588-CA2B-4683-BB5B-95BD4D80AD71}" dt="2026-09-02T02:33:00.995" v="50" actId="1076"/>
          <ac:spMkLst>
            <pc:docMk/>
            <pc:sldMk cId="2650886372" sldId="258"/>
            <ac:spMk id="10" creationId="{E0666D6F-C6C0-D5E6-CC7C-5BEEDB592951}"/>
          </ac:spMkLst>
        </pc:spChg>
        <pc:spChg chg="mod">
          <ac:chgData name="Anantha Krishna N" userId="de4fe408e2401e0c" providerId="LiveId" clId="{44B25588-CA2B-4683-BB5B-95BD4D80AD71}" dt="2026-09-02T02:33:42.076" v="58" actId="1076"/>
          <ac:spMkLst>
            <pc:docMk/>
            <pc:sldMk cId="2650886372" sldId="258"/>
            <ac:spMk id="11" creationId="{972B3386-3B37-21F3-F772-D9950228C913}"/>
          </ac:spMkLst>
        </pc:spChg>
        <pc:spChg chg="mod">
          <ac:chgData name="Anantha Krishna N" userId="de4fe408e2401e0c" providerId="LiveId" clId="{44B25588-CA2B-4683-BB5B-95BD4D80AD71}" dt="2026-09-02T02:33:36.965" v="57" actId="1076"/>
          <ac:spMkLst>
            <pc:docMk/>
            <pc:sldMk cId="2650886372" sldId="258"/>
            <ac:spMk id="12" creationId="{AC51A224-55EE-D9F7-540F-A19FD211CDD5}"/>
          </ac:spMkLst>
        </pc:spChg>
        <pc:spChg chg="mod">
          <ac:chgData name="Anantha Krishna N" userId="de4fe408e2401e0c" providerId="LiveId" clId="{44B25588-CA2B-4683-BB5B-95BD4D80AD71}" dt="2026-09-02T02:33:15.022" v="53" actId="1076"/>
          <ac:spMkLst>
            <pc:docMk/>
            <pc:sldMk cId="2650886372" sldId="258"/>
            <ac:spMk id="13" creationId="{D6BD51F5-F154-DD16-B67C-A99BA27FC109}"/>
          </ac:spMkLst>
        </pc:spChg>
        <pc:spChg chg="mod">
          <ac:chgData name="Anantha Krishna N" userId="de4fe408e2401e0c" providerId="LiveId" clId="{44B25588-CA2B-4683-BB5B-95BD4D80AD71}" dt="2026-09-02T02:33:26.901" v="55" actId="1076"/>
          <ac:spMkLst>
            <pc:docMk/>
            <pc:sldMk cId="2650886372" sldId="258"/>
            <ac:spMk id="14" creationId="{25F443C8-8F4A-B55F-45EE-0FF3A910BDEB}"/>
          </ac:spMkLst>
        </pc:spChg>
        <pc:spChg chg="mod">
          <ac:chgData name="Anantha Krishna N" userId="de4fe408e2401e0c" providerId="LiveId" clId="{44B25588-CA2B-4683-BB5B-95BD4D80AD71}" dt="2026-09-02T02:33:21.213" v="54" actId="1076"/>
          <ac:spMkLst>
            <pc:docMk/>
            <pc:sldMk cId="2650886372" sldId="258"/>
            <ac:spMk id="15" creationId="{CFF110A5-9F5A-F05F-80A5-11468A91B1A3}"/>
          </ac:spMkLst>
        </pc:spChg>
        <pc:spChg chg="mod">
          <ac:chgData name="Anantha Krishna N" userId="de4fe408e2401e0c" providerId="LiveId" clId="{44B25588-CA2B-4683-BB5B-95BD4D80AD71}" dt="2026-09-02T02:32:03.154" v="41" actId="1076"/>
          <ac:spMkLst>
            <pc:docMk/>
            <pc:sldMk cId="2650886372" sldId="258"/>
            <ac:spMk id="16" creationId="{563750EE-B61E-0B0C-8100-83F348067BB5}"/>
          </ac:spMkLst>
        </pc:spChg>
        <pc:spChg chg="add del">
          <ac:chgData name="Anantha Krishna N" userId="de4fe408e2401e0c" providerId="LiveId" clId="{44B25588-CA2B-4683-BB5B-95BD4D80AD71}" dt="2026-09-02T02:28:02.714" v="15" actId="478"/>
          <ac:spMkLst>
            <pc:docMk/>
            <pc:sldMk cId="2650886372" sldId="258"/>
            <ac:spMk id="17" creationId="{D9D6B9C7-381C-7389-14AD-AF3899BF853C}"/>
          </ac:spMkLst>
        </pc:spChg>
        <pc:spChg chg="add del mod">
          <ac:chgData name="Anantha Krishna N" userId="de4fe408e2401e0c" providerId="LiveId" clId="{44B25588-CA2B-4683-BB5B-95BD4D80AD71}" dt="2026-09-02T02:33:57.492" v="60" actId="478"/>
          <ac:spMkLst>
            <pc:docMk/>
            <pc:sldMk cId="2650886372" sldId="258"/>
            <ac:spMk id="18" creationId="{B8FEBA81-0A7B-BC16-1B49-75687F628DE9}"/>
          </ac:spMkLst>
        </pc:spChg>
        <pc:picChg chg="add del mod">
          <ac:chgData name="Anantha Krishna N" userId="de4fe408e2401e0c" providerId="LiveId" clId="{44B25588-CA2B-4683-BB5B-95BD4D80AD71}" dt="2026-09-02T02:30:24.646" v="27" actId="478"/>
          <ac:picMkLst>
            <pc:docMk/>
            <pc:sldMk cId="2650886372" sldId="258"/>
            <ac:picMk id="20" creationId="{3C342B65-D625-690E-7777-0BB9D6FF9760}"/>
          </ac:picMkLst>
        </pc:picChg>
        <pc:picChg chg="add del mod">
          <ac:chgData name="Anantha Krishna N" userId="de4fe408e2401e0c" providerId="LiveId" clId="{44B25588-CA2B-4683-BB5B-95BD4D80AD71}" dt="2026-09-02T02:33:56.449" v="59" actId="478"/>
          <ac:picMkLst>
            <pc:docMk/>
            <pc:sldMk cId="2650886372" sldId="258"/>
            <ac:picMk id="22" creationId="{4221C465-3765-F1C6-5AB4-C45C89B00A05}"/>
          </ac:picMkLst>
        </pc:picChg>
      </pc:sldChg>
      <pc:sldChg chg="modSp mod">
        <pc:chgData name="Anantha Krishna N" userId="de4fe408e2401e0c" providerId="LiveId" clId="{44B25588-CA2B-4683-BB5B-95BD4D80AD71}" dt="2026-09-01T17:23:51.158" v="4" actId="20577"/>
        <pc:sldMkLst>
          <pc:docMk/>
          <pc:sldMk cId="2885799085" sldId="261"/>
        </pc:sldMkLst>
        <pc:spChg chg="mod">
          <ac:chgData name="Anantha Krishna N" userId="de4fe408e2401e0c" providerId="LiveId" clId="{44B25588-CA2B-4683-BB5B-95BD4D80AD71}" dt="2026-09-01T17:23:51.158" v="4" actId="20577"/>
          <ac:spMkLst>
            <pc:docMk/>
            <pc:sldMk cId="2885799085" sldId="261"/>
            <ac:spMk id="2" creationId="{270506A2-89F7-1FD4-3DC0-D4720D5BE0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697AC-F684-54C4-3D80-C804D63E0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5DE7F-8B5C-DDE3-4D56-2937E9E6F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11198-A37A-48B3-C63A-28F3A81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3071-2DDE-7B9E-D9C1-B2308872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552CE-F2D8-755F-EB34-AA0976B8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5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FD22-85B2-D6AB-92DC-35FE294F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2518D-7B0C-2FC0-BD94-FFB85667E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118F-2791-8401-37BC-317DB766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3F063-F52A-2A9D-10EE-FE1B884A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CD9C9-13D0-F1D8-2923-236EEFB0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01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7B1A-6EDB-AEB6-43CB-9D6D0DD9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D5A5B-F11D-4010-B03E-5B879050C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8B1EB-6A7B-D84F-27A2-48D893FE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FEEA-8BD4-3DC6-0B44-67841D51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191A-04AB-1475-3160-9BA8C3B2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0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9DE0-873B-6E90-0FF3-F09A384E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D20C8-58DE-5CE3-F193-C18E7121C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858060-06EF-489E-86A7-665C732C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810FA-EEEC-9A8B-0AA2-7B05FC64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6C443-FD05-31A7-04CE-1566B0B2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CB35E-43B8-5988-F699-2E80717F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7F71-6DD4-BA20-3B22-FD4C91F9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F9D4D-6F33-5FD3-0EEF-43F59446F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BA0C2-38F2-34E1-391A-C6694B36C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B88B1-5BF4-1575-BDCF-61C7B6CCD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1F70B-2F29-1009-9543-B632C73A6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0808D-015B-EF97-DC17-A18BE87B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26ECC-7B73-A3D0-3F8F-62BEDCE0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C9164-F6FF-E9C9-2664-FC0E337C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6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DA81-1CDF-F303-4C08-5B464960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1A3DF-1773-DA1B-810F-0E9C1F89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13318-C774-C1C0-DC25-9A42DC19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3FCDA-727F-749C-65F1-2C1A445D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2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96149-4FA8-2791-D7B2-9B1E865B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71EC2-D576-8435-DA42-4848084A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77E7D-1611-098E-4C6C-B1A3BA3F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17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55F2-2741-2151-0401-34B06DAE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852F5-DFAD-F6AF-9514-4373D187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64A22-5B98-A7B5-7C3D-F59F22C9D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BF532-E5BE-EE86-CD83-6F733741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88B97-C43F-1B80-AA21-D7CCEC4A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B7CFA-ABC3-02DC-AB52-077B93BD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19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3DAB-6724-3D83-58FF-A672F243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64E57-0C04-033C-9832-E622C7A83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886F6-B014-0E2D-5260-C5864F77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74D74-77D6-71B7-464F-A8B2EA00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8CBC9-74FF-D77F-7EEF-230D34CC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AC8F0-F9FF-0E17-9313-1F8A6BC9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0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BCF6-1036-91C8-CB4E-65649A16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6B365-395D-9CE5-12EC-8154C79F4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2530-A980-15A4-F771-51F77C27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35E8-2748-40E9-80ED-1D6C3489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F69EF-B850-B125-1D49-551CDB8B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9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CECC7-B138-422D-DE51-5974D7CA4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4734A-7F25-655F-5F85-E7C319C6A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ADF3-9E0D-4A69-91E3-8DC6AC36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6EDA7-5FDD-6C5E-3E93-27944151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4D04-47C4-4D5E-2233-E041727B3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56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IH - YouTube">
            <a:extLst>
              <a:ext uri="{FF2B5EF4-FFF2-40B4-BE49-F238E27FC236}">
                <a16:creationId xmlns:a16="http://schemas.microsoft.com/office/drawing/2014/main" id="{8126DA1F-E74B-4689-36DF-BE69EF909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181350" y="51435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B8F0B-4E2E-432C-A6B3-CDB7F6A7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55A51-4E4B-C0FC-A3EF-4DA895CEC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052C4-89C9-FEE2-994B-7D15E1837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D3694-8CF0-4086-BC9F-288FD5E4C6C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69B3-1AFD-C279-8C85-F4162D273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6979C-799E-9AA9-FFC9-53E14D40A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FA673-C16A-4950-9763-0FACBB88D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7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aplibre.org/" TargetMode="External"/><Relationship Id="rId3" Type="http://schemas.openxmlformats.org/officeDocument/2006/relationships/hyperlink" Target="https://incois.gov.in/" TargetMode="External"/><Relationship Id="rId7" Type="http://schemas.openxmlformats.org/officeDocument/2006/relationships/hyperlink" Target="https://ai4bharat.iitm.ac.in/" TargetMode="External"/><Relationship Id="rId2" Type="http://schemas.openxmlformats.org/officeDocument/2006/relationships/hyperlink" Target="https://www.mosdac.gov.in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ebco.net/" TargetMode="External"/><Relationship Id="rId5" Type="http://schemas.openxmlformats.org/officeDocument/2006/relationships/hyperlink" Target="https://bhuvan.nrsc.gov.in/" TargetMode="External"/><Relationship Id="rId4" Type="http://schemas.openxmlformats.org/officeDocument/2006/relationships/hyperlink" Target="https://mausam.imd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D7E8514-E686-516F-0ABC-9949A11249BE}"/>
              </a:ext>
            </a:extLst>
          </p:cNvPr>
          <p:cNvSpPr txBox="1"/>
          <p:nvPr/>
        </p:nvSpPr>
        <p:spPr>
          <a:xfrm>
            <a:off x="3082194" y="276225"/>
            <a:ext cx="6027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SMART INDIA HACKATHON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06889-07F5-CC14-BADA-508E3DD78669}"/>
              </a:ext>
            </a:extLst>
          </p:cNvPr>
          <p:cNvSpPr txBox="1"/>
          <p:nvPr/>
        </p:nvSpPr>
        <p:spPr>
          <a:xfrm>
            <a:off x="625198" y="1196400"/>
            <a:ext cx="9499877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26176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ORCA Marine Ecosystem Reasoning with Collaborative Agents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Miscellaneous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Cyan</a:t>
            </a:r>
          </a:p>
        </p:txBody>
      </p:sp>
    </p:spTree>
    <p:extLst>
      <p:ext uri="{BB962C8B-B14F-4D97-AF65-F5344CB8AC3E}">
        <p14:creationId xmlns:p14="http://schemas.microsoft.com/office/powerpoint/2010/main" val="297251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7730A-9E1D-EDA5-D4F7-116D0006B955}"/>
              </a:ext>
            </a:extLst>
          </p:cNvPr>
          <p:cNvSpPr txBox="1"/>
          <p:nvPr/>
        </p:nvSpPr>
        <p:spPr>
          <a:xfrm>
            <a:off x="4324185" y="850417"/>
            <a:ext cx="344838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75534-A34A-145C-DD79-C8C6C8CF7D42}"/>
              </a:ext>
            </a:extLst>
          </p:cNvPr>
          <p:cNvSpPr txBox="1"/>
          <p:nvPr/>
        </p:nvSpPr>
        <p:spPr>
          <a:xfrm>
            <a:off x="1148059" y="1292106"/>
            <a:ext cx="1033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ORCA - AI POWERED CONVERSATIONAL MARINE INTELLIGENCE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B9F43-ADAB-3F28-894F-3FA640408394}"/>
              </a:ext>
            </a:extLst>
          </p:cNvPr>
          <p:cNvSpPr txBox="1"/>
          <p:nvPr/>
        </p:nvSpPr>
        <p:spPr>
          <a:xfrm>
            <a:off x="4471939" y="1719298"/>
            <a:ext cx="2988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progressive web app(PWA)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E41E5-F9F5-B2E0-7841-07D03075E397}"/>
              </a:ext>
            </a:extLst>
          </p:cNvPr>
          <p:cNvSpPr txBox="1"/>
          <p:nvPr/>
        </p:nvSpPr>
        <p:spPr>
          <a:xfrm>
            <a:off x="495432" y="2085556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1. ORCA receives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B5057-D91E-FCB2-0D3E-3E87DFEC6482}"/>
              </a:ext>
            </a:extLst>
          </p:cNvPr>
          <p:cNvSpPr txBox="1"/>
          <p:nvPr/>
        </p:nvSpPr>
        <p:spPr>
          <a:xfrm>
            <a:off x="495432" y="3541980"/>
            <a:ext cx="3852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2. ORCA reasons across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BA611-C206-F4FA-F6E0-5E76BB36080A}"/>
              </a:ext>
            </a:extLst>
          </p:cNvPr>
          <p:cNvSpPr txBox="1"/>
          <p:nvPr/>
        </p:nvSpPr>
        <p:spPr>
          <a:xfrm>
            <a:off x="7460899" y="2067314"/>
            <a:ext cx="2670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3. ORCA delivers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59799-9FD3-403D-38B9-78A3E0500655}"/>
              </a:ext>
            </a:extLst>
          </p:cNvPr>
          <p:cNvSpPr txBox="1"/>
          <p:nvPr/>
        </p:nvSpPr>
        <p:spPr>
          <a:xfrm>
            <a:off x="554831" y="2502170"/>
            <a:ext cx="4109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Voice / text query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User's GPS location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Time &amp; contextual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E7600-3829-70AF-9D4D-104095BC1DF6}"/>
              </a:ext>
            </a:extLst>
          </p:cNvPr>
          <p:cNvSpPr txBox="1"/>
          <p:nvPr/>
        </p:nvSpPr>
        <p:spPr>
          <a:xfrm>
            <a:off x="554831" y="3970041"/>
            <a:ext cx="3097323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Weather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Ocean conditions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Satellite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Fishing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Geospatial boundaries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C3470-A66A-FB79-5761-518077D6AFF3}"/>
              </a:ext>
            </a:extLst>
          </p:cNvPr>
          <p:cNvSpPr txBox="1"/>
          <p:nvPr/>
        </p:nvSpPr>
        <p:spPr>
          <a:xfrm>
            <a:off x="7503809" y="2839609"/>
            <a:ext cx="4743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PFZs highlighted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Safe / unsafe areas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Restricted &amp; protected zones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Recommended route / destination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50520-B9DA-3937-C630-1D34BC681E78}"/>
              </a:ext>
            </a:extLst>
          </p:cNvPr>
          <p:cNvSpPr txBox="1"/>
          <p:nvPr/>
        </p:nvSpPr>
        <p:spPr>
          <a:xfrm>
            <a:off x="7503809" y="4123045"/>
            <a:ext cx="392841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Conversational Explanation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What is happening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What to do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Why ORCA recommends 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Supporting data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E25969-0F2B-BF3F-44B4-8634BDDB0E1E}"/>
              </a:ext>
            </a:extLst>
          </p:cNvPr>
          <p:cNvSpPr txBox="1"/>
          <p:nvPr/>
        </p:nvSpPr>
        <p:spPr>
          <a:xfrm>
            <a:off x="0" y="59349"/>
            <a:ext cx="12096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The problem: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Marine information is fragmented across satellite, oceanographic, weather and geospatial sources, making it difficult for marine users to turn raw data into timely decisions.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B197B-2E56-595F-0B49-926105CAEAB6}"/>
              </a:ext>
            </a:extLst>
          </p:cNvPr>
          <p:cNvSpPr txBox="1"/>
          <p:nvPr/>
        </p:nvSpPr>
        <p:spPr>
          <a:xfrm>
            <a:off x="1582732" y="5894761"/>
            <a:ext cx="9196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ORCA unifies fragmented marine data with conversational AI to deliver visual, context-aware and explainable marine decisions.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CC624-986D-3D9A-3D6C-575A9BE80BC9}"/>
              </a:ext>
            </a:extLst>
          </p:cNvPr>
          <p:cNvSpPr txBox="1"/>
          <p:nvPr/>
        </p:nvSpPr>
        <p:spPr>
          <a:xfrm>
            <a:off x="7460899" y="2472735"/>
            <a:ext cx="2414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Visual Marine Map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9363243-95FA-D9CF-ADA8-FFBE628E9AAF}"/>
              </a:ext>
            </a:extLst>
          </p:cNvPr>
          <p:cNvSpPr/>
          <p:nvPr/>
        </p:nvSpPr>
        <p:spPr>
          <a:xfrm>
            <a:off x="2013437" y="2611460"/>
            <a:ext cx="3533531" cy="1467871"/>
          </a:xfrm>
          <a:prstGeom prst="arc">
            <a:avLst>
              <a:gd name="adj1" fmla="val 15571204"/>
              <a:gd name="adj2" fmla="val 4324019"/>
            </a:avLst>
          </a:prstGeom>
          <a:ln w="31750">
            <a:solidFill>
              <a:schemeClr val="tx2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F4B543A3-820C-46CB-0E09-83BCB6962711}"/>
              </a:ext>
            </a:extLst>
          </p:cNvPr>
          <p:cNvSpPr/>
          <p:nvPr/>
        </p:nvSpPr>
        <p:spPr>
          <a:xfrm rot="9396753">
            <a:off x="3421082" y="2749940"/>
            <a:ext cx="3989890" cy="2045744"/>
          </a:xfrm>
          <a:prstGeom prst="arc">
            <a:avLst>
              <a:gd name="adj1" fmla="val 11484363"/>
              <a:gd name="adj2" fmla="val 0"/>
            </a:avLst>
          </a:prstGeom>
          <a:ln w="31750"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62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BED4B3-2B29-4EED-40B8-E12D273FF915}"/>
              </a:ext>
            </a:extLst>
          </p:cNvPr>
          <p:cNvSpPr txBox="1"/>
          <p:nvPr/>
        </p:nvSpPr>
        <p:spPr>
          <a:xfrm>
            <a:off x="4259600" y="95250"/>
            <a:ext cx="367280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TECHNICAL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DD790-4167-F05C-F72B-524592C61673}"/>
              </a:ext>
            </a:extLst>
          </p:cNvPr>
          <p:cNvSpPr/>
          <p:nvPr/>
        </p:nvSpPr>
        <p:spPr>
          <a:xfrm>
            <a:off x="266699" y="742950"/>
            <a:ext cx="3352798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User input &amp;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5150B-6054-DF91-87E8-7097D3237ED8}"/>
              </a:ext>
            </a:extLst>
          </p:cNvPr>
          <p:cNvSpPr/>
          <p:nvPr/>
        </p:nvSpPr>
        <p:spPr>
          <a:xfrm>
            <a:off x="266699" y="1502568"/>
            <a:ext cx="3352798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Planner/ Reasoning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5C7F3-336C-F8BA-7639-F8812BF438CE}"/>
              </a:ext>
            </a:extLst>
          </p:cNvPr>
          <p:cNvSpPr/>
          <p:nvPr/>
        </p:nvSpPr>
        <p:spPr>
          <a:xfrm>
            <a:off x="266699" y="2262186"/>
            <a:ext cx="3352798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Specialized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D6582-0FC5-0E51-4372-80713596A641}"/>
              </a:ext>
            </a:extLst>
          </p:cNvPr>
          <p:cNvSpPr/>
          <p:nvPr/>
        </p:nvSpPr>
        <p:spPr>
          <a:xfrm>
            <a:off x="266697" y="3025138"/>
            <a:ext cx="3352799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Data sources &amp; APIs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9B8C4-1F18-05D0-1085-F86B42F05505}"/>
              </a:ext>
            </a:extLst>
          </p:cNvPr>
          <p:cNvSpPr/>
          <p:nvPr/>
        </p:nvSpPr>
        <p:spPr>
          <a:xfrm>
            <a:off x="266697" y="3812382"/>
            <a:ext cx="3352800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Data &amp; geospatial 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371EEC-BC47-B424-BA58-AF71227542CB}"/>
              </a:ext>
            </a:extLst>
          </p:cNvPr>
          <p:cNvSpPr/>
          <p:nvPr/>
        </p:nvSpPr>
        <p:spPr>
          <a:xfrm>
            <a:off x="266696" y="4599625"/>
            <a:ext cx="3352800" cy="695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Decision and response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331D1-080F-36AD-0768-330D8797FABE}"/>
              </a:ext>
            </a:extLst>
          </p:cNvPr>
          <p:cNvSpPr/>
          <p:nvPr/>
        </p:nvSpPr>
        <p:spPr>
          <a:xfrm>
            <a:off x="4099545" y="809830"/>
            <a:ext cx="7665700" cy="45593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 User input &amp; context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User Input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Voice or text query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Regional language support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User's current GPS location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 time and date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Previous conversation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Selected location or map area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Relevant information already shown to the user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combines the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query, location, time and conversation context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before deciding what information is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666D6F-C6C0-D5E6-CC7C-5BEEDB592951}"/>
              </a:ext>
            </a:extLst>
          </p:cNvPr>
          <p:cNvSpPr/>
          <p:nvPr/>
        </p:nvSpPr>
        <p:spPr>
          <a:xfrm>
            <a:off x="4099542" y="811585"/>
            <a:ext cx="7665700" cy="45720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Planner / Reasoning LLM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Understands the user's intent and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Breaks complex queries into smaller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Identifies the data, tools and specialized agents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Assigns tasks to the relevant agents and coordinates their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Combines the results for further reasoning and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Acts as the central layer that plans what ORCA needs to do before generating the final response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51A224-55EE-D9F7-540F-A19FD211CDD5}"/>
              </a:ext>
            </a:extLst>
          </p:cNvPr>
          <p:cNvSpPr/>
          <p:nvPr/>
        </p:nvSpPr>
        <p:spPr>
          <a:xfrm>
            <a:off x="4099536" y="844790"/>
            <a:ext cx="7665700" cy="4552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3. Specialized Agents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Weather &amp; Risk Agent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Analyses weather forecasts, waves, wind and marine hazards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Marine / Ocean Agent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ocean conditions such as SST, chlorophyll, tides and related observations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Satellite Agent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Retrieves and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relevant satellite and Earth Observation data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Geospatial Agent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Handles locations, distances, boundaries, restricted zones and spatial relationships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Other Data Agents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Retrieve additional information required for the user's specific query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Each agent focuses on one type of marine information, allowing ORCA to handle complex queries through parallel, specialized tasks.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D51F5-F154-DD16-B67C-A99BA27FC109}"/>
              </a:ext>
            </a:extLst>
          </p:cNvPr>
          <p:cNvSpPr/>
          <p:nvPr/>
        </p:nvSpPr>
        <p:spPr>
          <a:xfrm>
            <a:off x="4099542" y="809830"/>
            <a:ext cx="7665700" cy="45319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4. Data Sources &amp; APIs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Government &amp; Marine Sources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ISRO / MOSDAC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INCOIS, IMD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Geospatial Sources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Bhuvan / Marine Regions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GEBCO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OpenStreetMap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Retrieval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API-based and scheduled data retrieval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Combines information from multiple sources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Handling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Standardizes and stores data from different formats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Supports cached data for low-connectivity conditions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ORCA brings data from different marine, weather and geospatial sources into one common information layer.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F443C8-8F4A-B55F-45EE-0FF3A910BDEB}"/>
              </a:ext>
            </a:extLst>
          </p:cNvPr>
          <p:cNvSpPr/>
          <p:nvPr/>
        </p:nvSpPr>
        <p:spPr>
          <a:xfrm>
            <a:off x="4099539" y="810996"/>
            <a:ext cx="7665700" cy="45720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5. Data &amp; Geospatial Processing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Cleans and standardizes data from different sources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Converts data into a common format for analysis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Spatial Processing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Maps locations and marine regions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Calculates distances and spatial relationships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Identifies overlaps with hazards and restricted zones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Temporal Processing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Matches observations and forecasts with the requested time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Compares current and predicted marine conditions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Storage &amp; Caching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PostgreSQL +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PostGIS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marine and geospatial data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Cached data for low-connectivity / offline use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Turns raw data into usable spatial and time-based information for the final reasoning stage.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F110A5-9F5A-F05F-80A5-11468A91B1A3}"/>
              </a:ext>
            </a:extLst>
          </p:cNvPr>
          <p:cNvSpPr/>
          <p:nvPr/>
        </p:nvSpPr>
        <p:spPr>
          <a:xfrm>
            <a:off x="4099542" y="797206"/>
            <a:ext cx="7665700" cy="45720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6. Decision &amp; Response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Combines agent results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Brings together the relevant findings from each specialized agent.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Final Reasoning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Checks the collected information against the user's location, time and request.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Actionable Recommendation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Provides a clear answer such as a fishing zone, safe/unsafe assessment or recommended route.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Visual Output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PFZ and favourable areas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Hazards and restricted zones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Recommended routes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Conversational Response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Explains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what to do and why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Turns the collected data into an explainable decision for the user.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B3386-3B37-21F3-F772-D9950228C913}"/>
              </a:ext>
            </a:extLst>
          </p:cNvPr>
          <p:cNvSpPr txBox="1"/>
          <p:nvPr/>
        </p:nvSpPr>
        <p:spPr>
          <a:xfrm>
            <a:off x="266696" y="5901324"/>
            <a:ext cx="994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Python,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Open-source LLM, Open-source STT/TTS models, PostgreSQL +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PostGIS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PWA (HTML/CSS/JavaScript), REST APIs,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MapLibre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/OSM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3750EE-B61E-0B0C-8100-83F348067BB5}"/>
              </a:ext>
            </a:extLst>
          </p:cNvPr>
          <p:cNvSpPr txBox="1"/>
          <p:nvPr/>
        </p:nvSpPr>
        <p:spPr>
          <a:xfrm>
            <a:off x="182682" y="5498711"/>
            <a:ext cx="1856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Tech stack:</a:t>
            </a:r>
          </a:p>
        </p:txBody>
      </p:sp>
    </p:spTree>
    <p:extLst>
      <p:ext uri="{BB962C8B-B14F-4D97-AF65-F5344CB8AC3E}">
        <p14:creationId xmlns:p14="http://schemas.microsoft.com/office/powerpoint/2010/main" val="265088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1D8B3-94B7-DD01-F97F-F7BC68B71DB6}"/>
              </a:ext>
            </a:extLst>
          </p:cNvPr>
          <p:cNvSpPr txBox="1"/>
          <p:nvPr/>
        </p:nvSpPr>
        <p:spPr>
          <a:xfrm>
            <a:off x="289905" y="955238"/>
            <a:ext cx="453538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Existing Data Sources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ISRO/MOSDAC, INCOIS, IMD and public geospatial datasets already provide much of the required marine information.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Open-source Technology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Open-source LLMs, speech models and standard Python/web technologies reduce development and licensing overhead.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Each agent handles a specific task, so components can be developed and tested independently.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Offline Support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Maps and relevant marine data can be cached before going offshore, allowing the system to remain useful with poor connectivity.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7B89D-0C30-5DBB-A81E-84663B15B4FE}"/>
              </a:ext>
            </a:extLst>
          </p:cNvPr>
          <p:cNvSpPr txBox="1"/>
          <p:nvPr/>
        </p:nvSpPr>
        <p:spPr>
          <a:xfrm>
            <a:off x="6096000" y="916988"/>
            <a:ext cx="56291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availability &amp; different formats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Marine data comes from multiple sources and may not follow the same structure.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limitations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Offshore users may have weak or no connectivity.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Regional-language accuracy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Marine queries need to work reliably across Indian languages.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 reliability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Recommendations need to be based on actual marine data rather than unsupported LLM responses.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82301-FD19-8CDF-EC97-540550D7BF53}"/>
              </a:ext>
            </a:extLst>
          </p:cNvPr>
          <p:cNvSpPr txBox="1"/>
          <p:nvPr/>
        </p:nvSpPr>
        <p:spPr>
          <a:xfrm>
            <a:off x="6096000" y="5226784"/>
            <a:ext cx="60381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Standardized data layer + fallback sources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Caching + offline maps/data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Language-specific testing and prompts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Evidence-based responses with source data shown to the user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02FCC-A00C-C7EA-A5CD-C44FA6D1C5B0}"/>
              </a:ext>
            </a:extLst>
          </p:cNvPr>
          <p:cNvSpPr txBox="1"/>
          <p:nvPr/>
        </p:nvSpPr>
        <p:spPr>
          <a:xfrm>
            <a:off x="289905" y="580875"/>
            <a:ext cx="367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What makes it feasible?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6E9F1-AF43-8DFE-851B-E48900E77316}"/>
              </a:ext>
            </a:extLst>
          </p:cNvPr>
          <p:cNvSpPr txBox="1"/>
          <p:nvPr/>
        </p:nvSpPr>
        <p:spPr>
          <a:xfrm>
            <a:off x="6096000" y="568002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139DE-DC33-0CDD-B878-5E331AB3866B}"/>
              </a:ext>
            </a:extLst>
          </p:cNvPr>
          <p:cNvSpPr txBox="1"/>
          <p:nvPr/>
        </p:nvSpPr>
        <p:spPr>
          <a:xfrm>
            <a:off x="6096000" y="4857452"/>
            <a:ext cx="32255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How we handle them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BCF111-D473-4139-6072-163836647BD3}"/>
              </a:ext>
            </a:extLst>
          </p:cNvPr>
          <p:cNvSpPr txBox="1"/>
          <p:nvPr/>
        </p:nvSpPr>
        <p:spPr>
          <a:xfrm>
            <a:off x="4093689" y="75559"/>
            <a:ext cx="43172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FEASIBILITY AND VIABILITY</a:t>
            </a:r>
          </a:p>
        </p:txBody>
      </p:sp>
    </p:spTree>
    <p:extLst>
      <p:ext uri="{BB962C8B-B14F-4D97-AF65-F5344CB8AC3E}">
        <p14:creationId xmlns:p14="http://schemas.microsoft.com/office/powerpoint/2010/main" val="83540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D19440-E0B6-93B4-E01C-B7F94DAE4D06}"/>
              </a:ext>
            </a:extLst>
          </p:cNvPr>
          <p:cNvSpPr txBox="1"/>
          <p:nvPr/>
        </p:nvSpPr>
        <p:spPr>
          <a:xfrm>
            <a:off x="361950" y="852785"/>
            <a:ext cx="1098589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For fishermen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Know where to go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See nearby potential fishing zones and favourable marine conditions on the map.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Know when not to go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Get warnings about rough seas, storms, lightning and other hazards before heading out.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Plan the trip better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 marine conditions and route information to avoid unnecessary travel and fuel use.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For Other Marine Users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Authorities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See hazards, restricted areas and changing marine conditions in one place.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Researchers &amp; planners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Bring information from different sources together to understand what is happening in the ocean.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8B5E3-93B4-2C63-D090-887A0916AF2D}"/>
              </a:ext>
            </a:extLst>
          </p:cNvPr>
          <p:cNvSpPr txBox="1"/>
          <p:nvPr/>
        </p:nvSpPr>
        <p:spPr>
          <a:xfrm>
            <a:off x="4323720" y="161925"/>
            <a:ext cx="35445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IMPACT AND BENIFITS</a:t>
            </a:r>
          </a:p>
        </p:txBody>
      </p:sp>
    </p:spTree>
    <p:extLst>
      <p:ext uri="{BB962C8B-B14F-4D97-AF65-F5344CB8AC3E}">
        <p14:creationId xmlns:p14="http://schemas.microsoft.com/office/powerpoint/2010/main" val="197916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0506A2-89F7-1FD4-3DC0-D4720D5BE0F3}"/>
              </a:ext>
            </a:extLst>
          </p:cNvPr>
          <p:cNvSpPr txBox="1"/>
          <p:nvPr/>
        </p:nvSpPr>
        <p:spPr>
          <a:xfrm>
            <a:off x="533399" y="1038225"/>
            <a:ext cx="63150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ISRO / MOSDAC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mosdac.gov.in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INCOIS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incois.gov.in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IMD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mausam.imd.gov.in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Bhuvan / Marine Regions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bhuvan.nrsc.gov.in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GEBCO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gebco.net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AI4Bharat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ai4bharat.iitm.ac.in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OpenStreetMap /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MapLibre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maplibre.org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0227-1E48-70F6-A467-8617D4D3BF96}"/>
              </a:ext>
            </a:extLst>
          </p:cNvPr>
          <p:cNvSpPr txBox="1"/>
          <p:nvPr/>
        </p:nvSpPr>
        <p:spPr>
          <a:xfrm>
            <a:off x="3710571" y="266700"/>
            <a:ext cx="477085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rPr>
              <a:t>RESEARCH AND REFERENCES</a:t>
            </a:r>
            <a:endParaRPr lang="en-IN" sz="2600" dirty="0">
              <a:solidFill>
                <a:schemeClr val="tx2">
                  <a:lumMod val="75000"/>
                  <a:lumOff val="2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79908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1037</Words>
  <Application>Microsoft Office PowerPoint</Application>
  <PresentationFormat>Widescreen</PresentationFormat>
  <Paragraphs>141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Bahnschrift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Anantha Krishna N</dc:creator>
  <cp:lastModifiedBy>Anantha Krishna N</cp:lastModifiedBy>
  <cp:revision>2</cp:revision>
  <cp:lastPrinted>2026-09-01T16:58:16Z</cp:lastPrinted>
  <dcterms:created xsi:type="dcterms:W3CDTF">2026-09-01T12:37:04Z</dcterms:created>
  <dcterms:modified xsi:type="dcterms:W3CDTF">2026-09-02T05:14:09Z</dcterms:modified>
</cp:coreProperties>
</file>